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93" r:id="rId6"/>
    <p:sldId id="278" r:id="rId7"/>
    <p:sldId id="281" r:id="rId8"/>
    <p:sldId id="279" r:id="rId9"/>
    <p:sldId id="290" r:id="rId10"/>
    <p:sldId id="291" r:id="rId11"/>
    <p:sldId id="292" r:id="rId12"/>
    <p:sldId id="262" r:id="rId13"/>
    <p:sldId id="264"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50"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2000">
              <a:schemeClr val="accent1">
                <a:alpha val="88000"/>
                <a:lumMod val="0"/>
                <a:lumOff val="100000"/>
              </a:schemeClr>
            </a:gs>
            <a:gs pos="60000">
              <a:schemeClr val="accent1">
                <a:lumMod val="45000"/>
                <a:lumOff val="55000"/>
              </a:schemeClr>
            </a:gs>
            <a:gs pos="100000">
              <a:schemeClr val="accent1">
                <a:lumMod val="30000"/>
                <a:lumOff val="70000"/>
              </a:schemeClr>
            </a:gs>
          </a:gsLst>
          <a:lin ang="5400000" scaled="1"/>
          <a:tileRect/>
        </a:gra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a:highlight>
                  <a:srgbClr val="FFFF00"/>
                </a:highlight>
              </a:rPr>
              <a:t>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a:t>
            </a:r>
            <a:r>
              <a:rPr lang="en-US" sz="2400" b="1" dirty="0">
                <a:solidFill>
                  <a:schemeClr val="tx1"/>
                </a:solidFill>
              </a:rPr>
              <a:t>– </a:t>
            </a:r>
            <a:r>
              <a:rPr lang="en-IN" sz="2400" dirty="0">
                <a:solidFill>
                  <a:schemeClr val="tx1"/>
                </a:solidFill>
              </a:rPr>
              <a:t>Agentic AI for Mental Health Awareness &amp; Suicide Prevention </a:t>
            </a:r>
            <a:endParaRPr lang="en-IN" sz="2400" b="1" dirty="0">
              <a:solidFill>
                <a:schemeClr val="tx1"/>
              </a:solidFill>
            </a:endParaRPr>
          </a:p>
        </p:txBody>
      </p:sp>
      <p:pic>
        <p:nvPicPr>
          <p:cNvPr id="5" name="Picture 4">
            <a:extLst>
              <a:ext uri="{FF2B5EF4-FFF2-40B4-BE49-F238E27FC236}">
                <a16:creationId xmlns:a16="http://schemas.microsoft.com/office/drawing/2014/main" id="{38D6B965-F6FD-1226-A4E0-9B43893B004E}"/>
              </a:ext>
            </a:extLst>
          </p:cNvPr>
          <p:cNvPicPr>
            <a:picLocks noChangeAspect="1"/>
          </p:cNvPicPr>
          <p:nvPr/>
        </p:nvPicPr>
        <p:blipFill>
          <a:blip r:embed="rId3"/>
          <a:stretch>
            <a:fillRect/>
          </a:stretch>
        </p:blipFill>
        <p:spPr>
          <a:xfrm>
            <a:off x="4132905" y="5150519"/>
            <a:ext cx="1068763" cy="1323230"/>
          </a:xfrm>
          <a:prstGeom prst="rect">
            <a:avLst/>
          </a:prstGeom>
        </p:spPr>
      </p:pic>
      <p:graphicFrame>
        <p:nvGraphicFramePr>
          <p:cNvPr id="9" name="Table 8">
            <a:extLst>
              <a:ext uri="{FF2B5EF4-FFF2-40B4-BE49-F238E27FC236}">
                <a16:creationId xmlns:a16="http://schemas.microsoft.com/office/drawing/2014/main" id="{705804A5-D182-7132-61C3-BF5F73BFF9E5}"/>
              </a:ext>
            </a:extLst>
          </p:cNvPr>
          <p:cNvGraphicFramePr>
            <a:graphicFrameLocks noGrp="1"/>
          </p:cNvGraphicFramePr>
          <p:nvPr>
            <p:extLst>
              <p:ext uri="{D42A27DB-BD31-4B8C-83A1-F6EECF244321}">
                <p14:modId xmlns:p14="http://schemas.microsoft.com/office/powerpoint/2010/main" val="2115812300"/>
              </p:ext>
            </p:extLst>
          </p:nvPr>
        </p:nvGraphicFramePr>
        <p:xfrm>
          <a:off x="928138" y="3109923"/>
          <a:ext cx="10137224" cy="3651378"/>
        </p:xfrm>
        <a:graphic>
          <a:graphicData uri="http://schemas.openxmlformats.org/drawingml/2006/table">
            <a:tbl>
              <a:tblPr firstRow="1" firstCol="1" lastRow="1" lastCol="1" bandRow="1" bandCol="1">
                <a:effectLst>
                  <a:outerShdw blurRad="50800" dist="38100" dir="10800000" algn="r" rotWithShape="0">
                    <a:prstClr val="black">
                      <a:alpha val="40000"/>
                    </a:prstClr>
                  </a:outerShdw>
                </a:effectLst>
                <a:tableStyleId>{69012ECD-51FC-41F1-AA8D-1B2483CD663E}</a:tableStyleId>
              </a:tblPr>
              <a:tblGrid>
                <a:gridCol w="2534306">
                  <a:extLst>
                    <a:ext uri="{9D8B030D-6E8A-4147-A177-3AD203B41FA5}">
                      <a16:colId xmlns:a16="http://schemas.microsoft.com/office/drawing/2014/main" val="1654485526"/>
                    </a:ext>
                  </a:extLst>
                </a:gridCol>
                <a:gridCol w="2534306">
                  <a:extLst>
                    <a:ext uri="{9D8B030D-6E8A-4147-A177-3AD203B41FA5}">
                      <a16:colId xmlns:a16="http://schemas.microsoft.com/office/drawing/2014/main" val="3021285544"/>
                    </a:ext>
                  </a:extLst>
                </a:gridCol>
                <a:gridCol w="2534306">
                  <a:extLst>
                    <a:ext uri="{9D8B030D-6E8A-4147-A177-3AD203B41FA5}">
                      <a16:colId xmlns:a16="http://schemas.microsoft.com/office/drawing/2014/main" val="3795254616"/>
                    </a:ext>
                  </a:extLst>
                </a:gridCol>
                <a:gridCol w="2534306">
                  <a:extLst>
                    <a:ext uri="{9D8B030D-6E8A-4147-A177-3AD203B41FA5}">
                      <a16:colId xmlns:a16="http://schemas.microsoft.com/office/drawing/2014/main" val="3091115973"/>
                    </a:ext>
                  </a:extLst>
                </a:gridCol>
              </a:tblGrid>
              <a:tr h="1574459">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US" sz="2000" u="none" strike="noStrike" cap="none" dirty="0">
                          <a:effectLst>
                            <a:outerShdw blurRad="50800" dist="38100" dir="2700000" algn="tl" rotWithShape="0">
                              <a:prstClr val="black">
                                <a:alpha val="40000"/>
                              </a:prstClr>
                            </a:outerShdw>
                          </a:effectLst>
                        </a:rPr>
                        <a:t>Student Name</a:t>
                      </a:r>
                    </a:p>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US" sz="2000" u="none" strike="noStrike" cap="none" dirty="0">
                          <a:effectLst>
                            <a:outerShdw blurRad="50800" dist="38100" dir="2700000" algn="tl" rotWithShape="0">
                              <a:prstClr val="black">
                                <a:alpha val="40000"/>
                              </a:prstClr>
                            </a:outerShdw>
                          </a:effectLst>
                        </a:rPr>
                        <a:t>Recent Passport Photo</a:t>
                      </a:r>
                    </a:p>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US" sz="2000" b="0" u="none" strike="noStrike" cap="none" dirty="0">
                          <a:solidFill>
                            <a:srgbClr val="000000"/>
                          </a:solidFill>
                          <a:effectLst>
                            <a:outerShdw blurRad="50800" dist="38100" dir="2700000" algn="tl" rotWithShape="0">
                              <a:prstClr val="black">
                                <a:alpha val="40000"/>
                              </a:prstClr>
                            </a:outerShdw>
                          </a:effectLst>
                          <a:sym typeface="Calibri"/>
                        </a:rPr>
                        <a:t>Email ID </a:t>
                      </a:r>
                      <a:endParaRPr lang="en-US" sz="2000" b="0" u="none" strike="noStrike" cap="none" dirty="0">
                        <a:solidFill>
                          <a:srgbClr val="000000"/>
                        </a:solidFill>
                        <a:effectLst>
                          <a:outerShdw blurRad="50800" dist="38100" dir="2700000" algn="tl" rotWithShape="0">
                            <a:prstClr val="black">
                              <a:alpha val="40000"/>
                            </a:prstClr>
                          </a:outerShdw>
                        </a:effectLst>
                        <a:sym typeface="Arial"/>
                      </a:endParaRPr>
                    </a:p>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200000"/>
                        </a:lnSpc>
                        <a:spcBef>
                          <a:spcPts val="0"/>
                        </a:spcBef>
                        <a:spcAft>
                          <a:spcPts val="0"/>
                        </a:spcAft>
                        <a:buClr>
                          <a:schemeClr val="lt1"/>
                        </a:buClr>
                        <a:buSzPts val="1800"/>
                        <a:buFont typeface="Calibri"/>
                        <a:buNone/>
                      </a:pPr>
                      <a:r>
                        <a:rPr lang="en-US" sz="2000" b="0" u="none" strike="noStrike" cap="none" dirty="0">
                          <a:solidFill>
                            <a:srgbClr val="000000"/>
                          </a:solidFill>
                          <a:effectLst>
                            <a:outerShdw blurRad="50800" dist="38100" dir="2700000" algn="tl" rotWithShape="0">
                              <a:prstClr val="black">
                                <a:alpha val="40000"/>
                              </a:prstClr>
                            </a:outerShdw>
                          </a:effectLst>
                          <a:sym typeface="Calibri"/>
                        </a:rPr>
                        <a:t>Mobile number</a:t>
                      </a:r>
                      <a:endParaRPr lang="en-US" sz="2000" b="0" u="none" strike="noStrike" cap="none" dirty="0">
                        <a:solidFill>
                          <a:srgbClr val="000000"/>
                        </a:solidFill>
                        <a:effectLst>
                          <a:outerShdw blurRad="50800" dist="38100" dir="2700000" algn="tl" rotWithShape="0">
                            <a:prstClr val="black">
                              <a:alpha val="40000"/>
                            </a:prstClr>
                          </a:outerShdw>
                        </a:effectLst>
                        <a:sym typeface="Arial"/>
                      </a:endParaRPr>
                    </a:p>
                    <a:p>
                      <a:pPr marL="0" marR="0" lvl="0" indent="0" algn="ctr" rtl="0">
                        <a:lnSpc>
                          <a:spcPct val="200000"/>
                        </a:lnSpc>
                        <a:spcBef>
                          <a:spcPts val="0"/>
                        </a:spcBef>
                        <a:spcAft>
                          <a:spcPts val="0"/>
                        </a:spcAft>
                        <a:buClr>
                          <a:schemeClr val="lt1"/>
                        </a:buClr>
                        <a:buSzPts val="1800"/>
                        <a:buFont typeface="Calibri"/>
                        <a:buNone/>
                      </a:pPr>
                      <a:r>
                        <a:rPr lang="en-US" sz="2000" b="0" u="none" strike="noStrike" cap="none" dirty="0">
                          <a:solidFill>
                            <a:srgbClr val="000000"/>
                          </a:solidFill>
                          <a:effectLst>
                            <a:outerShdw blurRad="50800" dist="38100" dir="2700000" algn="tl" rotWithShape="0">
                              <a:prstClr val="black">
                                <a:alpha val="40000"/>
                              </a:prstClr>
                            </a:outerShdw>
                          </a:effectLst>
                          <a:sym typeface="Calibri"/>
                        </a:rPr>
                        <a:t>[WhatsApp] </a:t>
                      </a:r>
                      <a:endParaRPr lang="en-US" sz="2000" b="0" u="none" strike="noStrike" cap="none" dirty="0">
                        <a:solidFill>
                          <a:srgbClr val="000000"/>
                        </a:solidFill>
                        <a:effectLst>
                          <a:outerShdw blurRad="50800" dist="38100" dir="2700000" algn="tl" rotWithShape="0">
                            <a:prstClr val="black">
                              <a:alpha val="40000"/>
                            </a:prstClr>
                          </a:outerShdw>
                        </a:effectLst>
                        <a:sym typeface="Arial"/>
                      </a:endParaRPr>
                    </a:p>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253082"/>
                  </a:ext>
                </a:extLst>
              </a:tr>
              <a:tr h="1574459">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IN" sz="2000" dirty="0">
                          <a:effectLst>
                            <a:outerShdw blurRad="50800" dist="38100" dir="2700000" algn="tl" rotWithShape="0">
                              <a:prstClr val="black">
                                <a:alpha val="40000"/>
                              </a:prstClr>
                            </a:outerShdw>
                          </a:effectLst>
                        </a:rPr>
                        <a:t>Priyanka bind</a:t>
                      </a:r>
                    </a:p>
                    <a:p>
                      <a:pPr algn="ctr">
                        <a:lnSpc>
                          <a:spcPct val="200000"/>
                        </a:lnSpc>
                      </a:pPr>
                      <a:endParaRPr lang="en-IN" sz="2000" dirty="0">
                        <a:effectLst>
                          <a:outerShdw blurRad="50800" dist="38100" dir="2700000" algn="tl" rotWithShape="0">
                            <a:prstClr val="black">
                              <a:alpha val="40000"/>
                            </a:prstClr>
                          </a:outerShdw>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IN" sz="2000" dirty="0">
                          <a:effectLst>
                            <a:outerShdw blurRad="50800" dist="38100" dir="2700000" algn="tl" rotWithShape="0">
                              <a:prstClr val="black">
                                <a:alpha val="40000"/>
                              </a:prstClr>
                            </a:outerShdw>
                          </a:effectLst>
                        </a:rPr>
                        <a:t>pbind6636@gmail.com</a:t>
                      </a:r>
                    </a:p>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200000"/>
                        </a:lnSpc>
                        <a:spcBef>
                          <a:spcPts val="0"/>
                        </a:spcBef>
                        <a:spcAft>
                          <a:spcPts val="0"/>
                        </a:spcAft>
                        <a:buClr>
                          <a:srgbClr val="000000"/>
                        </a:buClr>
                        <a:buSzTx/>
                        <a:buFont typeface="Arial"/>
                        <a:buNone/>
                        <a:tabLst/>
                        <a:defRPr/>
                      </a:pPr>
                      <a:r>
                        <a:rPr lang="en-IN" sz="2000" dirty="0">
                          <a:effectLst>
                            <a:outerShdw blurRad="50800" dist="38100" dir="2700000" algn="tl" rotWithShape="0">
                              <a:prstClr val="black">
                                <a:alpha val="40000"/>
                              </a:prstClr>
                            </a:outerShdw>
                          </a:effectLst>
                        </a:rPr>
                        <a:t>9270355337</a:t>
                      </a:r>
                    </a:p>
                    <a:p>
                      <a:pPr algn="ctr">
                        <a:lnSpc>
                          <a:spcPct val="200000"/>
                        </a:lnSpc>
                      </a:pPr>
                      <a:endParaRPr lang="en-IN" sz="2000" dirty="0">
                        <a:effectLst>
                          <a:outerShdw blurRad="50800" dist="38100" dir="2700000" algn="tl" rotWithShape="0">
                            <a:prstClr val="black">
                              <a:alpha val="40000"/>
                            </a:prst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311728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93647"/>
          </a:xfrm>
          <a:prstGeom prst="rect">
            <a:avLst/>
          </a:prstGeom>
          <a:noFill/>
        </p:spPr>
        <p:txBody>
          <a:bodyPr wrap="square" rtlCol="0">
            <a:spAutoFit/>
          </a:bodyPr>
          <a:lstStyle/>
          <a:p>
            <a:pPr fontAlgn="base"/>
            <a:r>
              <a:rPr lang="en-US" sz="2000" b="1" dirty="0"/>
              <a:t>Problem Statement : </a:t>
            </a:r>
            <a:r>
              <a:rPr lang="en-US" sz="1600" dirty="0"/>
              <a:t>Agentic AI for Mental Health Awareness &amp; Suicide Prevention</a:t>
            </a:r>
          </a:p>
          <a:p>
            <a:pPr fontAlgn="base"/>
            <a:endParaRPr lang="en-US" dirty="0"/>
          </a:p>
          <a:p>
            <a:pPr fontAlgn="base"/>
            <a:endParaRPr lang="en-US" dirty="0"/>
          </a:p>
          <a:p>
            <a:pPr fontAlgn="base"/>
            <a:r>
              <a:rPr lang="en-US" sz="1800" b="1" dirty="0"/>
              <a:t>The Challenge</a:t>
            </a:r>
          </a:p>
          <a:p>
            <a:pPr fontAlgn="base"/>
            <a:r>
              <a:rPr lang="en-US" dirty="0"/>
              <a:t>Mental health issues such as stress, anxiety, depression, and suicidal thoughts are increasing worldwide. Many people hesitate to seek help due to stigma, lack of awareness, and limited access to professional support. Traditional mental health systems often provide delayed assistance, making early detection and timely intervention difficult.</a:t>
            </a:r>
          </a:p>
          <a:p>
            <a:pPr fontAlgn="base"/>
            <a:endParaRPr lang="en-US" dirty="0"/>
          </a:p>
          <a:p>
            <a:pPr fontAlgn="base"/>
            <a:endParaRPr lang="en-US" dirty="0"/>
          </a:p>
          <a:p>
            <a:pPr fontAlgn="base"/>
            <a:r>
              <a:rPr lang="en-US" sz="1800" b="1" dirty="0"/>
              <a:t>The Objective</a:t>
            </a:r>
          </a:p>
          <a:p>
            <a:pPr fontAlgn="base"/>
            <a:r>
              <a:rPr lang="en-US" dirty="0"/>
              <a:t>Build an AI-powered Mental Health Awareness &amp; Suicide Prevention Agent that provides empathetic support, promotes mental health awareness, detects emotional distress at an early stage, and connects users with trusted mental health resources. The solution should:</a:t>
            </a:r>
          </a:p>
          <a:p>
            <a:pPr marL="285750" indent="-285750" fontAlgn="base">
              <a:buFont typeface="Arial" panose="020B0604020202020204" pitchFamily="34" charset="0"/>
              <a:buChar char="•"/>
            </a:pPr>
            <a:r>
              <a:rPr lang="en-US" b="1" dirty="0"/>
              <a:t>Promote Mental Health Awareness – </a:t>
            </a:r>
            <a:r>
              <a:rPr lang="en-US" dirty="0"/>
              <a:t>Provide reliable information on stress management, mindfulness, emotional well-being, and self-care.</a:t>
            </a:r>
          </a:p>
          <a:p>
            <a:pPr marL="285750" indent="-285750" fontAlgn="base">
              <a:buFont typeface="Arial" panose="020B0604020202020204" pitchFamily="34" charset="0"/>
              <a:buChar char="•"/>
            </a:pPr>
            <a:r>
              <a:rPr lang="en-US" b="1" dirty="0"/>
              <a:t>Enable Early Risk Detection (RAG) – </a:t>
            </a:r>
            <a:r>
              <a:rPr lang="en-US" dirty="0"/>
              <a:t>Analyze conversations or journal entries to identify signs of stress, anxiety, depression, or suicidal thoughts using trusted knowledge sources.</a:t>
            </a:r>
          </a:p>
          <a:p>
            <a:pPr marL="285750" indent="-285750" fontAlgn="base">
              <a:buFont typeface="Arial" panose="020B0604020202020204" pitchFamily="34" charset="0"/>
              <a:buChar char="•"/>
            </a:pPr>
            <a:r>
              <a:rPr lang="en-US" b="1" dirty="0"/>
              <a:t>Provide Empathetic Support – </a:t>
            </a:r>
            <a:r>
              <a:rPr lang="en-US" dirty="0"/>
              <a:t>Offer supportive, non-judgmental conversations and personalized coping strategies.</a:t>
            </a:r>
          </a:p>
          <a:p>
            <a:pPr marL="285750" indent="-285750" fontAlgn="base">
              <a:buFont typeface="Arial" panose="020B0604020202020204" pitchFamily="34" charset="0"/>
              <a:buChar char="•"/>
            </a:pPr>
            <a:r>
              <a:rPr lang="en-US" b="1" dirty="0"/>
              <a:t>Predict &amp; Prevent Risks – </a:t>
            </a:r>
            <a:r>
              <a:rPr lang="en-US" dirty="0"/>
              <a:t>Monitor emotional patterns, detect high-risk situations, and recommend preventive actions.</a:t>
            </a:r>
          </a:p>
          <a:p>
            <a:pPr marL="285750" indent="-285750" fontAlgn="base">
              <a:buFont typeface="Arial" panose="020B0604020202020204" pitchFamily="34" charset="0"/>
              <a:buChar char="•"/>
            </a:pPr>
            <a:r>
              <a:rPr lang="en-US" b="1" dirty="0"/>
              <a:t>Connect to Professional Help – </a:t>
            </a:r>
            <a:r>
              <a:rPr lang="en-US" dirty="0"/>
              <a:t>Guide users to verified helplines, counselors, psychologists, or emergency services whenever required.</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71141" y="895930"/>
            <a:ext cx="10607040" cy="6755696"/>
          </a:xfrm>
          <a:prstGeom prst="rect">
            <a:avLst/>
          </a:prstGeom>
          <a:noFill/>
        </p:spPr>
        <p:txBody>
          <a:bodyPr wrap="square" rtlCol="0">
            <a:spAutoFit/>
          </a:bodyPr>
          <a:lstStyle/>
          <a:p>
            <a:endParaRPr lang="en-US" sz="1800" b="1" dirty="0"/>
          </a:p>
          <a:p>
            <a:r>
              <a:rPr lang="en-US" sz="1800" b="1" dirty="0"/>
              <a:t>Proposed Solution: AI-Powered Mental Health Awareness &amp; Suicide Prevention Agent</a:t>
            </a:r>
          </a:p>
          <a:p>
            <a:endParaRPr lang="en-US" sz="1600" b="1" dirty="0"/>
          </a:p>
          <a:p>
            <a:r>
              <a:rPr lang="en-US" sz="1600" dirty="0">
                <a:latin typeface="Cambria Math" panose="02040503050406030204" pitchFamily="18" charset="0"/>
                <a:ea typeface="Cambria Math" panose="02040503050406030204" pitchFamily="18" charset="0"/>
              </a:rPr>
              <a:t>The proposed solution is a Multi-Agent AI-powered Mental Health Awareness &amp; Suicide Prevention Agent developed using Lang Flow, IBM watsonx.ai, IBM Granite Models, and RAG (Retrieval-Augmented Generation). The system provides emotional support, mental health awareness, early risk detection, and timely guidance in a safe and empathetic manner.</a:t>
            </a:r>
          </a:p>
          <a:p>
            <a:endParaRPr lang="en-US" dirty="0">
              <a:latin typeface="Cambria Math" panose="02040503050406030204" pitchFamily="18" charset="0"/>
              <a:ea typeface="Cambria Math" panose="02040503050406030204" pitchFamily="18" charset="0"/>
            </a:endParaRPr>
          </a:p>
          <a:p>
            <a:r>
              <a:rPr lang="en-US" sz="1600" dirty="0">
                <a:latin typeface="Cambria Math" panose="02040503050406030204" pitchFamily="18" charset="0"/>
                <a:ea typeface="Cambria Math" panose="02040503050406030204" pitchFamily="18" charset="0"/>
              </a:rPr>
              <a:t>The solution uses a RAG pipeline to retrieve trusted mental health information from reliable sources such as WHO, NIMH, and government mental health resources. This ensures that users receive accurate, evidence-based, and safe responses.</a:t>
            </a:r>
          </a:p>
          <a:p>
            <a:endParaRPr lang="en-US" sz="1600" dirty="0"/>
          </a:p>
          <a:p>
            <a:r>
              <a:rPr lang="en-US" sz="1500" b="1" dirty="0">
                <a:latin typeface="Cambria Math" panose="02040503050406030204" pitchFamily="18" charset="0"/>
                <a:ea typeface="Cambria Math" panose="02040503050406030204" pitchFamily="18" charset="0"/>
              </a:rPr>
              <a:t>The system consists of four specialized agents:</a:t>
            </a:r>
          </a:p>
          <a:p>
            <a:endParaRPr lang="en-US" sz="1500" b="1"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sz="1500" b="1" dirty="0">
                <a:latin typeface="Cambria Math" panose="02040503050406030204" pitchFamily="18" charset="0"/>
                <a:ea typeface="Cambria Math" panose="02040503050406030204" pitchFamily="18" charset="0"/>
              </a:rPr>
              <a:t>Mental Health Knowledge Agent – </a:t>
            </a:r>
            <a:r>
              <a:rPr lang="en-US" sz="1500" dirty="0">
                <a:latin typeface="Cambria Math" panose="02040503050406030204" pitchFamily="18" charset="0"/>
                <a:ea typeface="Cambria Math" panose="02040503050406030204" pitchFamily="18" charset="0"/>
              </a:rPr>
              <a:t>Retrieves trusted information on stress, anxiety, depression, mindfulness, and self-care practices using RAG.</a:t>
            </a:r>
          </a:p>
          <a:p>
            <a:endParaRPr lang="en-US" sz="1500" b="1"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sz="1500" b="1" dirty="0">
                <a:latin typeface="Cambria Math" panose="02040503050406030204" pitchFamily="18" charset="0"/>
                <a:ea typeface="Cambria Math" panose="02040503050406030204" pitchFamily="18" charset="0"/>
              </a:rPr>
              <a:t>Emotional Support Agent – </a:t>
            </a:r>
            <a:r>
              <a:rPr lang="en-US" sz="1500" dirty="0">
                <a:latin typeface="Cambria Math" panose="02040503050406030204" pitchFamily="18" charset="0"/>
                <a:ea typeface="Cambria Math" panose="02040503050406030204" pitchFamily="18" charset="0"/>
              </a:rPr>
              <a:t>Provides empathetic conversations, emotional encouragement, and personalized coping strategies.</a:t>
            </a:r>
          </a:p>
          <a:p>
            <a:endParaRPr lang="en-US" sz="1500" b="1"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sz="1500" b="1" dirty="0">
                <a:latin typeface="Cambria Math" panose="02040503050406030204" pitchFamily="18" charset="0"/>
                <a:ea typeface="Cambria Math" panose="02040503050406030204" pitchFamily="18" charset="0"/>
              </a:rPr>
              <a:t>Risk Detection Agent </a:t>
            </a:r>
            <a:r>
              <a:rPr lang="en-US" sz="1500" dirty="0">
                <a:latin typeface="Cambria Math" panose="02040503050406030204" pitchFamily="18" charset="0"/>
                <a:ea typeface="Cambria Math" panose="02040503050406030204" pitchFamily="18" charset="0"/>
              </a:rPr>
              <a:t>– Analyzes user conversations or journal entries to identify signs of emotional distress or suicidal risk and generates early alerts</a:t>
            </a:r>
            <a:r>
              <a:rPr lang="en-US" sz="1500" b="1" dirty="0">
                <a:latin typeface="Cambria Math" panose="02040503050406030204" pitchFamily="18" charset="0"/>
                <a:ea typeface="Cambria Math" panose="02040503050406030204" pitchFamily="18" charset="0"/>
              </a:rPr>
              <a:t>.</a:t>
            </a:r>
          </a:p>
          <a:p>
            <a:endParaRPr lang="en-US" sz="1500" b="1" dirty="0">
              <a:latin typeface="Cambria Math" panose="02040503050406030204" pitchFamily="18" charset="0"/>
              <a:ea typeface="Cambria Math" panose="02040503050406030204" pitchFamily="18" charset="0"/>
            </a:endParaRPr>
          </a:p>
          <a:p>
            <a:pPr marL="285750" indent="-285750">
              <a:buFont typeface="Arial" panose="020B0604020202020204" pitchFamily="34" charset="0"/>
              <a:buChar char="•"/>
            </a:pPr>
            <a:r>
              <a:rPr lang="en-US" sz="1500" b="1" dirty="0">
                <a:latin typeface="Cambria Math" panose="02040503050406030204" pitchFamily="18" charset="0"/>
                <a:ea typeface="Cambria Math" panose="02040503050406030204" pitchFamily="18" charset="0"/>
              </a:rPr>
              <a:t>Crisis Support Agent – </a:t>
            </a:r>
            <a:r>
              <a:rPr lang="en-US" sz="1500" dirty="0">
                <a:latin typeface="Cambria Math" panose="02040503050406030204" pitchFamily="18" charset="0"/>
                <a:ea typeface="Cambria Math" panose="02040503050406030204" pitchFamily="18" charset="0"/>
              </a:rPr>
              <a:t>Recommends verified helplines, counselors, emergency contacts, and community support resources during high-risk situations</a:t>
            </a:r>
            <a:r>
              <a:rPr lang="en-US" sz="1500" b="1" dirty="0">
                <a:latin typeface="Cambria Math" panose="02040503050406030204" pitchFamily="18" charset="0"/>
                <a:ea typeface="Cambria Math" panose="02040503050406030204" pitchFamily="18" charset="0"/>
              </a:rPr>
              <a:t>.</a:t>
            </a:r>
          </a:p>
          <a:p>
            <a:endParaRPr lang="en-US" sz="1500" b="1" dirty="0">
              <a:latin typeface="Cambria Math" panose="02040503050406030204" pitchFamily="18" charset="0"/>
              <a:ea typeface="Cambria Math" panose="02040503050406030204" pitchFamily="18" charset="0"/>
            </a:endParaRPr>
          </a:p>
          <a:p>
            <a:endParaRPr lang="en-US" sz="1500" b="1"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34265"/>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4B2F-8E2B-12FE-70D8-CE982AF904BB}"/>
              </a:ext>
            </a:extLst>
          </p:cNvPr>
          <p:cNvSpPr>
            <a:spLocks noGrp="1"/>
          </p:cNvSpPr>
          <p:nvPr>
            <p:ph type="title"/>
          </p:nvPr>
        </p:nvSpPr>
        <p:spPr>
          <a:xfrm>
            <a:off x="0" y="0"/>
            <a:ext cx="12192000" cy="6970425"/>
          </a:xfrm>
          <a:gradFill>
            <a:gsLst>
              <a:gs pos="12000">
                <a:schemeClr val="accent1">
                  <a:alpha val="88000"/>
                  <a:lumMod val="0"/>
                  <a:lumOff val="100000"/>
                </a:schemeClr>
              </a:gs>
              <a:gs pos="60000">
                <a:schemeClr val="accent1">
                  <a:lumMod val="45000"/>
                  <a:lumOff val="55000"/>
                </a:schemeClr>
              </a:gs>
              <a:gs pos="100000">
                <a:schemeClr val="accent1">
                  <a:lumMod val="30000"/>
                  <a:lumOff val="70000"/>
                </a:schemeClr>
              </a:gs>
            </a:gsLst>
            <a:lin ang="5400000" scaled="1"/>
          </a:gradFill>
        </p:spPr>
        <p:txBody>
          <a:bodyPr>
            <a:normAutofit/>
          </a:bodyPr>
          <a:lstStyle/>
          <a:p>
            <a:r>
              <a:rPr lang="en-US" sz="1800" dirty="0">
                <a:latin typeface="Cambria Math" panose="02040503050406030204" pitchFamily="18" charset="0"/>
                <a:ea typeface="Cambria Math" panose="02040503050406030204" pitchFamily="18" charset="0"/>
              </a:rPr>
              <a:t>The solution also includes a user-friendly dashboard that tracks mood history, stress levels, emotional trends, and self-care progress through interactive visualizations.</a:t>
            </a:r>
            <a:br>
              <a:rPr lang="en-US" sz="1800" dirty="0">
                <a:latin typeface="Cambria Math" panose="02040503050406030204" pitchFamily="18" charset="0"/>
                <a:ea typeface="Cambria Math" panose="02040503050406030204" pitchFamily="18" charset="0"/>
              </a:rPr>
            </a:br>
            <a:br>
              <a:rPr lang="en-US" sz="1800" dirty="0">
                <a:latin typeface="Cambria Math" panose="02040503050406030204" pitchFamily="18" charset="0"/>
                <a:ea typeface="Cambria Math" panose="02040503050406030204" pitchFamily="18" charset="0"/>
              </a:rPr>
            </a:br>
            <a:r>
              <a:rPr lang="en-US" sz="1800" dirty="0" err="1">
                <a:latin typeface="Cambria Math" panose="02040503050406030204" pitchFamily="18" charset="0"/>
                <a:ea typeface="Cambria Math" panose="02040503050406030204" pitchFamily="18" charset="0"/>
              </a:rPr>
              <a:t>LangFlow</a:t>
            </a:r>
            <a:r>
              <a:rPr lang="en-US" sz="1800" dirty="0">
                <a:latin typeface="Cambria Math" panose="02040503050406030204" pitchFamily="18" charset="0"/>
                <a:ea typeface="Cambria Math" panose="02040503050406030204" pitchFamily="18" charset="0"/>
              </a:rPr>
              <a:t> is used to orchestrate the multi-agent workflow, IBM watsonx.ai manages model deployment and AI governance, while IBM Granite Models provide reasoning, summarization, empathy, and personalized responses.</a:t>
            </a:r>
            <a:br>
              <a:rPr lang="en-US" sz="1800" dirty="0">
                <a:latin typeface="Cambria Math" panose="02040503050406030204" pitchFamily="18" charset="0"/>
                <a:ea typeface="Cambria Math" panose="02040503050406030204" pitchFamily="18" charset="0"/>
              </a:rPr>
            </a:br>
            <a:br>
              <a:rPr lang="en-US" sz="1800" dirty="0">
                <a:latin typeface="Cambria Math" panose="02040503050406030204" pitchFamily="18" charset="0"/>
                <a:ea typeface="Cambria Math" panose="02040503050406030204" pitchFamily="18" charset="0"/>
              </a:rPr>
            </a:br>
            <a:r>
              <a:rPr lang="en-US" sz="1800" dirty="0">
                <a:latin typeface="Cambria Math" panose="02040503050406030204" pitchFamily="18" charset="0"/>
                <a:ea typeface="Cambria Math" panose="02040503050406030204" pitchFamily="18" charset="0"/>
              </a:rPr>
              <a:t>Overall, this solution acts as an intelligent, proactive, and compassionate mental health </a:t>
            </a:r>
            <a:br>
              <a:rPr lang="en-US" sz="1800" dirty="0">
                <a:latin typeface="Cambria Math" panose="02040503050406030204" pitchFamily="18" charset="0"/>
                <a:ea typeface="Cambria Math" panose="02040503050406030204" pitchFamily="18" charset="0"/>
              </a:rPr>
            </a:br>
            <a:r>
              <a:rPr lang="en-US" sz="1800" dirty="0">
                <a:latin typeface="Cambria Math" panose="02040503050406030204" pitchFamily="18" charset="0"/>
                <a:ea typeface="Cambria Math" panose="02040503050406030204" pitchFamily="18" charset="0"/>
              </a:rPr>
              <a:t>companion that promotes awareness, supports emotional well-being, detects risks early, and encourages users to seek</a:t>
            </a:r>
            <a:br>
              <a:rPr lang="en-US" sz="1800" dirty="0">
                <a:latin typeface="Cambria Math" panose="02040503050406030204" pitchFamily="18" charset="0"/>
                <a:ea typeface="Cambria Math" panose="02040503050406030204" pitchFamily="18" charset="0"/>
              </a:rPr>
            </a:br>
            <a:r>
              <a:rPr lang="en-US" sz="1800" dirty="0">
                <a:latin typeface="Cambria Math" panose="02040503050406030204" pitchFamily="18" charset="0"/>
                <a:ea typeface="Cambria Math" panose="02040503050406030204" pitchFamily="18" charset="0"/>
              </a:rPr>
              <a:t> professional help whenever needed..</a:t>
            </a:r>
            <a:br>
              <a:rPr lang="en-US" sz="4000" dirty="0">
                <a:latin typeface="Cambria Math" panose="02040503050406030204" pitchFamily="18" charset="0"/>
                <a:ea typeface="Cambria Math" panose="02040503050406030204" pitchFamily="18" charset="0"/>
              </a:rPr>
            </a:br>
            <a:br>
              <a:rPr lang="en-US" dirty="0"/>
            </a:br>
            <a:endParaRPr lang="en-IN" dirty="0"/>
          </a:p>
        </p:txBody>
      </p:sp>
    </p:spTree>
    <p:extLst>
      <p:ext uri="{BB962C8B-B14F-4D97-AF65-F5344CB8AC3E}">
        <p14:creationId xmlns:p14="http://schemas.microsoft.com/office/powerpoint/2010/main" val="1769420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prompt engineering,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Stores and retrieves mental health knowledge efficiently.</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t> </a:t>
            </a:r>
            <a:r>
              <a:rPr lang="en-US" sz="2400" b="1" dirty="0" err="1"/>
              <a:t>LangFlow</a:t>
            </a:r>
            <a:r>
              <a:rPr lang="en-US" sz="2400" b="1" dirty="0"/>
              <a:t> Components Used -</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001643"/>
          </a:xfrm>
          <a:prstGeom prst="rect">
            <a:avLst/>
          </a:prstGeom>
          <a:noFill/>
        </p:spPr>
        <p:txBody>
          <a:bodyPr wrap="square" rtlCol="0">
            <a:spAutoFit/>
          </a:bodyPr>
          <a:lstStyle/>
          <a:p>
            <a:endParaRPr lang="en-US" sz="2000" dirty="0">
              <a:latin typeface="Cambria Math" panose="02040503050406030204" pitchFamily="18" charset="0"/>
              <a:ea typeface="Cambria Math" panose="02040503050406030204" pitchFamily="18" charset="0"/>
            </a:endParaRPr>
          </a:p>
          <a:p>
            <a:r>
              <a:rPr lang="en-US" sz="2000" b="1" dirty="0">
                <a:latin typeface="Cambria Math" panose="02040503050406030204" pitchFamily="18" charset="0"/>
                <a:ea typeface="Cambria Math" panose="02040503050406030204" pitchFamily="18" charset="0"/>
              </a:rPr>
              <a:t>Chat Input – </a:t>
            </a:r>
            <a:r>
              <a:rPr lang="en-US" sz="2000" dirty="0">
                <a:latin typeface="Cambria Math" panose="02040503050406030204" pitchFamily="18" charset="0"/>
                <a:ea typeface="Cambria Math" panose="02040503050406030204" pitchFamily="18" charset="0"/>
              </a:rPr>
              <a:t>Accepts user messages, emotions, or mental health-related questions.</a:t>
            </a:r>
          </a:p>
          <a:p>
            <a:r>
              <a:rPr lang="en-US" sz="2000" b="1" dirty="0">
                <a:latin typeface="Cambria Math" panose="02040503050406030204" pitchFamily="18" charset="0"/>
                <a:ea typeface="Cambria Math" panose="02040503050406030204" pitchFamily="18" charset="0"/>
              </a:rPr>
              <a:t>IBM </a:t>
            </a:r>
            <a:r>
              <a:rPr lang="en-US" sz="2000" b="1" dirty="0" err="1">
                <a:latin typeface="Cambria Math" panose="02040503050406030204" pitchFamily="18" charset="0"/>
                <a:ea typeface="Cambria Math" panose="02040503050406030204" pitchFamily="18" charset="0"/>
              </a:rPr>
              <a:t>watsonx</a:t>
            </a:r>
            <a:r>
              <a:rPr lang="en-US" sz="2000" b="1" dirty="0">
                <a:latin typeface="Cambria Math" panose="02040503050406030204" pitchFamily="18" charset="0"/>
                <a:ea typeface="Cambria Math" panose="02040503050406030204" pitchFamily="18" charset="0"/>
              </a:rPr>
              <a:t> AI Agent – </a:t>
            </a:r>
            <a:r>
              <a:rPr lang="en-US" sz="2000" dirty="0">
                <a:latin typeface="Cambria Math" panose="02040503050406030204" pitchFamily="18" charset="0"/>
                <a:ea typeface="Cambria Math" panose="02040503050406030204" pitchFamily="18" charset="0"/>
              </a:rPr>
              <a:t>Processes the user input and coordinates the AI workflow using IBM Granite Models.</a:t>
            </a:r>
          </a:p>
          <a:p>
            <a:r>
              <a:rPr lang="en-US" sz="2000" b="1" dirty="0">
                <a:latin typeface="Cambria Math" panose="02040503050406030204" pitchFamily="18" charset="0"/>
                <a:ea typeface="Cambria Math" panose="02040503050406030204" pitchFamily="18" charset="0"/>
              </a:rPr>
              <a:t>IBM Granite Model (Granite-4.0-8B-Instruct) – </a:t>
            </a:r>
            <a:r>
              <a:rPr lang="en-US" sz="2000" dirty="0">
                <a:latin typeface="Cambria Math" panose="02040503050406030204" pitchFamily="18" charset="0"/>
                <a:ea typeface="Cambria Math" panose="02040503050406030204" pitchFamily="18" charset="0"/>
              </a:rPr>
              <a:t>Generates empathetic, personalized, and context-aware responses.</a:t>
            </a:r>
          </a:p>
          <a:p>
            <a:r>
              <a:rPr lang="en-US" sz="2000" b="1" dirty="0">
                <a:latin typeface="Cambria Math" panose="02040503050406030204" pitchFamily="18" charset="0"/>
                <a:ea typeface="Cambria Math" panose="02040503050406030204" pitchFamily="18" charset="0"/>
              </a:rPr>
              <a:t>RAG Component – </a:t>
            </a:r>
            <a:r>
              <a:rPr lang="en-US" sz="2000" dirty="0">
                <a:latin typeface="Cambria Math" panose="02040503050406030204" pitchFamily="18" charset="0"/>
                <a:ea typeface="Cambria Math" panose="02040503050406030204" pitchFamily="18" charset="0"/>
              </a:rPr>
              <a:t>Retrieves trusted mental health information from verified sources before generating answers.</a:t>
            </a:r>
          </a:p>
          <a:p>
            <a:r>
              <a:rPr lang="en-US" sz="2000" b="1" dirty="0">
                <a:latin typeface="Cambria Math" panose="02040503050406030204" pitchFamily="18" charset="0"/>
                <a:ea typeface="Cambria Math" panose="02040503050406030204" pitchFamily="18" charset="0"/>
              </a:rPr>
              <a:t>Prompt Template – </a:t>
            </a:r>
            <a:r>
              <a:rPr lang="en-US" sz="2000" dirty="0">
                <a:latin typeface="Cambria Math" panose="02040503050406030204" pitchFamily="18" charset="0"/>
                <a:ea typeface="Cambria Math" panose="02040503050406030204" pitchFamily="18" charset="0"/>
              </a:rPr>
              <a:t>Structures prompts to ensure safe, supportive, and accurate AI responses.</a:t>
            </a:r>
          </a:p>
          <a:p>
            <a:r>
              <a:rPr lang="en-US" sz="2000" b="1" dirty="0">
                <a:latin typeface="Cambria Math" panose="02040503050406030204" pitchFamily="18" charset="0"/>
                <a:ea typeface="Cambria Math" panose="02040503050406030204" pitchFamily="18" charset="0"/>
              </a:rPr>
              <a:t>Chat Output – </a:t>
            </a:r>
            <a:r>
              <a:rPr lang="en-US" sz="2000" dirty="0">
                <a:latin typeface="Cambria Math" panose="02040503050406030204" pitchFamily="18" charset="0"/>
                <a:ea typeface="Cambria Math" panose="02040503050406030204" pitchFamily="18" charset="0"/>
              </a:rPr>
              <a:t>Displays emotional support, coping strategies, mental health guidance, and crisis recommendations.</a:t>
            </a:r>
            <a:r>
              <a:rPr lang="en-US" sz="2000" b="1" dirty="0">
                <a:latin typeface="Cambria Math" panose="02040503050406030204" pitchFamily="18" charset="0"/>
                <a:ea typeface="Cambria Math" panose="02040503050406030204" pitchFamily="18" charset="0"/>
              </a:rPr>
              <a:t> </a:t>
            </a:r>
          </a:p>
          <a:p>
            <a:r>
              <a:rPr lang="en-US" sz="2000" b="1" dirty="0">
                <a:latin typeface="Cambria Math" panose="02040503050406030204" pitchFamily="18" charset="0"/>
                <a:ea typeface="Cambria Math" panose="02040503050406030204" pitchFamily="18" charset="0"/>
              </a:rPr>
              <a:t>File Component – </a:t>
            </a:r>
            <a:r>
              <a:rPr lang="en-US" sz="2000" dirty="0">
                <a:latin typeface="Cambria Math" panose="02040503050406030204" pitchFamily="18" charset="0"/>
                <a:ea typeface="Cambria Math" panose="02040503050406030204" pitchFamily="18" charset="0"/>
              </a:rPr>
              <a:t>Stores and retrieves mental health resources, FAQs, and knowledge documents.</a:t>
            </a:r>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6" name="Picture 5" descr="A screenshot of a computer&#10;&#10;AI-generated content may be incorrect.">
            <a:extLst>
              <a:ext uri="{FF2B5EF4-FFF2-40B4-BE49-F238E27FC236}">
                <a16:creationId xmlns:a16="http://schemas.microsoft.com/office/drawing/2014/main" id="{4C7FC88A-B369-455A-F57A-122CC34E5233}"/>
              </a:ext>
            </a:extLst>
          </p:cNvPr>
          <p:cNvPicPr>
            <a:picLocks noChangeAspect="1"/>
          </p:cNvPicPr>
          <p:nvPr/>
        </p:nvPicPr>
        <p:blipFill>
          <a:blip r:embed="rId3"/>
          <a:stretch>
            <a:fillRect/>
          </a:stretch>
        </p:blipFill>
        <p:spPr>
          <a:xfrm>
            <a:off x="540634" y="928386"/>
            <a:ext cx="10937928" cy="593455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6" name="Picture 5" descr="A screenshot of a computer&#10;&#10;AI-generated content may be incorrect.">
            <a:extLst>
              <a:ext uri="{FF2B5EF4-FFF2-40B4-BE49-F238E27FC236}">
                <a16:creationId xmlns:a16="http://schemas.microsoft.com/office/drawing/2014/main" id="{A0D6461E-DA88-AFE8-EAFF-84E9A424BF26}"/>
              </a:ext>
            </a:extLst>
          </p:cNvPr>
          <p:cNvPicPr>
            <a:picLocks noChangeAspect="1"/>
          </p:cNvPicPr>
          <p:nvPr/>
        </p:nvPicPr>
        <p:blipFill>
          <a:blip r:embed="rId3"/>
          <a:stretch>
            <a:fillRect/>
          </a:stretch>
        </p:blipFill>
        <p:spPr>
          <a:xfrm>
            <a:off x="537741" y="1015076"/>
            <a:ext cx="11539779" cy="5489305"/>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84919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-Use</a:t>
            </a:r>
            <a:r>
              <a:rPr lang="en-US" sz="2000">
                <a:solidFill>
                  <a:srgbClr val="FF0000"/>
                </a:solidFill>
              </a:rPr>
              <a:t> different slides for multiple screenshots </a:t>
            </a:r>
            <a:endParaRPr lang="en-US"/>
          </a:p>
        </p:txBody>
      </p:sp>
      <p:pic>
        <p:nvPicPr>
          <p:cNvPr id="5" name="Picture 4" descr="A screenshot of a computer&#10;&#10;AI-generated content may be incorrect.">
            <a:extLst>
              <a:ext uri="{FF2B5EF4-FFF2-40B4-BE49-F238E27FC236}">
                <a16:creationId xmlns:a16="http://schemas.microsoft.com/office/drawing/2014/main" id="{6EA8F3D0-52BA-100E-3FD8-228494F48350}"/>
              </a:ext>
            </a:extLst>
          </p:cNvPr>
          <p:cNvPicPr>
            <a:picLocks noChangeAspect="1"/>
          </p:cNvPicPr>
          <p:nvPr/>
        </p:nvPicPr>
        <p:blipFill>
          <a:blip r:embed="rId3"/>
          <a:stretch>
            <a:fillRect/>
          </a:stretch>
        </p:blipFill>
        <p:spPr>
          <a:xfrm>
            <a:off x="534003" y="1709798"/>
            <a:ext cx="9628931" cy="4962404"/>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Other Applicable Screenshots: </a:t>
            </a:r>
            <a:endParaRPr lang="en-US"/>
          </a:p>
        </p:txBody>
      </p:sp>
      <p:sp>
        <p:nvSpPr>
          <p:cNvPr id="4" name="TextBox 3">
            <a:extLst>
              <a:ext uri="{FF2B5EF4-FFF2-40B4-BE49-F238E27FC236}">
                <a16:creationId xmlns:a16="http://schemas.microsoft.com/office/drawing/2014/main" id="{878DC055-9DE8-731B-4573-E65371EBEDCA}"/>
              </a:ext>
            </a:extLst>
          </p:cNvPr>
          <p:cNvSpPr txBox="1"/>
          <p:nvPr/>
        </p:nvSpPr>
        <p:spPr>
          <a:xfrm>
            <a:off x="1375037" y="1172400"/>
            <a:ext cx="761421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a:t>
            </a:r>
            <a:r>
              <a:rPr lang="en-US" sz="2000">
                <a:solidFill>
                  <a:srgbClr val="FF0000"/>
                </a:solidFill>
              </a:rPr>
              <a:t> Put multiple screenshots for multiple prompts and outputs </a:t>
            </a:r>
          </a:p>
          <a:p>
            <a:pPr marL="342900" indent="-342900">
              <a:buFont typeface="Calibri"/>
              <a:buChar char="-"/>
            </a:pPr>
            <a:r>
              <a:rPr lang="en-US" sz="2000">
                <a:solidFill>
                  <a:srgbClr val="FF0000"/>
                </a:solidFill>
              </a:rPr>
              <a:t>All the content screenshots should be clearly visible</a:t>
            </a:r>
            <a:endParaRPr lang="en-US" sz="2000" dirty="0">
              <a:solidFill>
                <a:srgbClr val="FF0000"/>
              </a:solidFill>
            </a:endParaRPr>
          </a:p>
        </p:txBody>
      </p:sp>
    </p:spTree>
    <p:extLst>
      <p:ext uri="{BB962C8B-B14F-4D97-AF65-F5344CB8AC3E}">
        <p14:creationId xmlns:p14="http://schemas.microsoft.com/office/powerpoint/2010/main" val="334215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sym typeface="Calibri"/>
              </a:rPr>
              <a:t>Orchestrate architecture blueprint</a:t>
            </a:r>
            <a:endParaRPr lang="en-US" sz="2400">
              <a:solidFill>
                <a:schemeClr val="dk1"/>
              </a:solidFill>
            </a:endParaRPr>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latin typeface="Cambria Math" panose="02040503050406030204" pitchFamily="18" charset="0"/>
                <a:ea typeface="Cambria Math" panose="02040503050406030204" pitchFamily="18" charset="0"/>
              </a:rPr>
              <a:t>Role of Agentic AI in the solution </a:t>
            </a:r>
            <a:endParaRPr lang="en-IN" sz="3200" b="1" dirty="0">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632311"/>
          </a:xfrm>
          <a:prstGeom prst="rect">
            <a:avLst/>
          </a:prstGeom>
          <a:noFill/>
        </p:spPr>
        <p:txBody>
          <a:bodyPr wrap="square" rtlCol="0">
            <a:spAutoFit/>
          </a:bodyPr>
          <a:lstStyle/>
          <a:p>
            <a:r>
              <a:rPr lang="en-US" sz="1800" dirty="0">
                <a:latin typeface="Cambria Math" panose="02040503050406030204" pitchFamily="18" charset="0"/>
                <a:ea typeface="Cambria Math" panose="02040503050406030204" pitchFamily="18" charset="0"/>
              </a:rPr>
              <a:t>Agentic AI enables the </a:t>
            </a:r>
            <a:r>
              <a:rPr lang="en-US" sz="1800" b="1" dirty="0">
                <a:latin typeface="Cambria Math" panose="02040503050406030204" pitchFamily="18" charset="0"/>
                <a:ea typeface="Cambria Math" panose="02040503050406030204" pitchFamily="18" charset="0"/>
              </a:rPr>
              <a:t>Mental Health Awareness &amp; Suicide Prevention Agent</a:t>
            </a:r>
            <a:r>
              <a:rPr lang="en-US" sz="1800" dirty="0">
                <a:latin typeface="Cambria Math" panose="02040503050406030204" pitchFamily="18" charset="0"/>
                <a:ea typeface="Cambria Math" panose="02040503050406030204" pitchFamily="18" charset="0"/>
              </a:rPr>
              <a:t> to function as an intelligent, proactive, and empathetic assistant rather than a simple chatbot. Using </a:t>
            </a:r>
            <a:r>
              <a:rPr lang="en-US" sz="1800" b="1" dirty="0">
                <a:latin typeface="Cambria Math" panose="02040503050406030204" pitchFamily="18" charset="0"/>
                <a:ea typeface="Cambria Math" panose="02040503050406030204" pitchFamily="18" charset="0"/>
              </a:rPr>
              <a:t>IBM watsonx.ai and IBM Granite Models</a:t>
            </a:r>
            <a:r>
              <a:rPr lang="en-US" sz="1800" dirty="0">
                <a:latin typeface="Cambria Math" panose="02040503050406030204" pitchFamily="18" charset="0"/>
                <a:ea typeface="Cambria Math" panose="02040503050406030204" pitchFamily="18" charset="0"/>
              </a:rPr>
              <a:t>, it coordinates multiple specialized AI agents to provide personalized mental health support.</a:t>
            </a:r>
          </a:p>
          <a:p>
            <a:endParaRPr lang="en-US" sz="1800" dirty="0">
              <a:latin typeface="Cambria Math" panose="02040503050406030204" pitchFamily="18" charset="0"/>
              <a:ea typeface="Cambria Math" panose="02040503050406030204" pitchFamily="18" charset="0"/>
            </a:endParaRPr>
          </a:p>
          <a:p>
            <a:r>
              <a:rPr lang="en-US" sz="1800" dirty="0">
                <a:latin typeface="Cambria Math" panose="02040503050406030204" pitchFamily="18" charset="0"/>
                <a:ea typeface="Cambria Math" panose="02040503050406030204" pitchFamily="18" charset="0"/>
              </a:rPr>
              <a:t>Each agent performs a specific task, such as retrieving trusted mental health information, offering emotional support, detecting signs of stress, anxiety, depression, or suicidal risk, and recommending appropriate coping strategies or professional help. These agents work together to deliver accurate, context-aware, and timely responses.</a:t>
            </a:r>
          </a:p>
          <a:p>
            <a:endParaRPr lang="en-US" sz="1800" dirty="0">
              <a:latin typeface="Cambria Math" panose="02040503050406030204" pitchFamily="18" charset="0"/>
              <a:ea typeface="Cambria Math" panose="02040503050406030204" pitchFamily="18" charset="0"/>
            </a:endParaRPr>
          </a:p>
          <a:p>
            <a:r>
              <a:rPr lang="en-US" sz="1800" dirty="0">
                <a:latin typeface="Cambria Math" panose="02040503050406030204" pitchFamily="18" charset="0"/>
                <a:ea typeface="Cambria Math" panose="02040503050406030204" pitchFamily="18" charset="0"/>
              </a:rPr>
              <a:t>Agentic AI understands the user's emotional state, adapts its guidance based on conversations, and continuously improves recommendations. In high-risk situations, it encourages users to seek professional assistance and provides verified crisis support resources.</a:t>
            </a:r>
          </a:p>
          <a:p>
            <a:endParaRPr lang="en-US" sz="1800" dirty="0">
              <a:latin typeface="Cambria Math" panose="02040503050406030204" pitchFamily="18" charset="0"/>
              <a:ea typeface="Cambria Math" panose="02040503050406030204" pitchFamily="18" charset="0"/>
            </a:endParaRPr>
          </a:p>
          <a:p>
            <a:r>
              <a:rPr lang="en-US" sz="1800" dirty="0">
                <a:latin typeface="Cambria Math" panose="02040503050406030204" pitchFamily="18" charset="0"/>
                <a:ea typeface="Cambria Math" panose="02040503050406030204" pitchFamily="18" charset="0"/>
              </a:rPr>
              <a:t>Overall, Agentic AI makes the solution intelligent, personalized, proactive, and reliable, acting as a compassionate digital mental health companion that promotes awareness, emotional well-being, and early intervention..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2534412" y="295680"/>
            <a:ext cx="7123176" cy="523220"/>
          </a:xfrm>
          <a:prstGeom prst="rect">
            <a:avLst/>
          </a:prstGeom>
          <a:noFill/>
        </p:spPr>
        <p:txBody>
          <a:bodyPr wrap="square" rtlCol="0">
            <a:spAutoFit/>
          </a:bodyPr>
          <a:lstStyle/>
          <a:p>
            <a:pPr algn="ctr"/>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5531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Multi-Agent AI Architecture – </a:t>
            </a:r>
            <a:r>
              <a:rPr lang="en-US" sz="1800" dirty="0"/>
              <a:t>Uses multiple specialized AI agents that work together to provide accurate and personalized mental health support.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RAG-Based Trusted Information – </a:t>
            </a:r>
            <a:r>
              <a:rPr lang="en-US" sz="1800" dirty="0"/>
              <a:t>Retrieves information from reliable mental health resources, ensuring safe and evidence-based responses.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Early Risk Detection – </a:t>
            </a:r>
            <a:r>
              <a:rPr lang="en-US" sz="1800" dirty="0"/>
              <a:t>Identifies signs of stress, anxiety, depression, and potential suicidal thoughts through conversation analysis.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Personalized Emotional Support – </a:t>
            </a:r>
            <a:r>
              <a:rPr lang="en-US" sz="1800" dirty="0"/>
              <a:t>Delivers empathetic guidance and coping strategies based on each user's emotional condition.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Real-Time Mood Tracking – </a:t>
            </a:r>
            <a:r>
              <a:rPr lang="en-US" sz="1800" dirty="0"/>
              <a:t>Monitors mood patterns and provides timely wellness recommendations.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Crisis Support Integration – </a:t>
            </a:r>
            <a:r>
              <a:rPr lang="en-US" sz="1800" dirty="0"/>
              <a:t>Suggests verified helplines, counselors, and emergency resources during high-risk situations.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Secure and Scalable Solution – </a:t>
            </a:r>
            <a:r>
              <a:rPr lang="en-US" sz="1800" dirty="0"/>
              <a:t>Built using IBM watsonx.ai, IBM Granite Models, and </a:t>
            </a:r>
            <a:r>
              <a:rPr lang="en-US" sz="1800" dirty="0" err="1"/>
              <a:t>LangFlow</a:t>
            </a:r>
            <a:r>
              <a:rPr lang="en-US" sz="1800" dirty="0"/>
              <a:t>, making it reliable, scalable, and enterprise-ready.</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248497"/>
            <a:ext cx="6444496" cy="704017"/>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464457" y="1134631"/>
            <a:ext cx="11727543"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1.</a:t>
            </a:r>
            <a:r>
              <a:rPr lang="en-US" sz="1850" b="1" dirty="0">
                <a:solidFill>
                  <a:srgbClr val="2B3541"/>
                </a:solidFill>
                <a:latin typeface="Times New Roman"/>
                <a:ea typeface="Times New Roman"/>
                <a:cs typeface="Times New Roman"/>
                <a:sym typeface="Times New Roman"/>
              </a:rPr>
              <a:t> Wearable Device Integration</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system can be integrated with smartwatches and fitness bands to monitor heart rate, sleep patterns, and stress levels. This will help provide more accurate and personalized mental health support.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2. Voice Assistant &amp; Multilingual Support</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solution can support voice interaction and multiple languages, making mental health assistance more accessible to users from different regions.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3. AI-Based Mood Prediction</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Future versions can analyze user behavior and mood history to predict emotional changes and provide early preventive recommendations.</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4. Professional Counseling Integration</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agent can be connected with certified psychologists, counselors, and mental health helplines, allowing users to easily access professional support whenever needed.</a:t>
            </a:r>
            <a:endParaRPr sz="185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BA831A72-EB9C-314A-4A2C-2BC57DDAC0D4}"/>
              </a:ext>
            </a:extLst>
          </p:cNvPr>
          <p:cNvPicPr>
            <a:picLocks noChangeAspect="1"/>
          </p:cNvPicPr>
          <p:nvPr/>
        </p:nvPicPr>
        <p:blipFill>
          <a:blip r:embed="rId2"/>
          <a:stretch>
            <a:fillRect/>
          </a:stretch>
        </p:blipFill>
        <p:spPr>
          <a:xfrm>
            <a:off x="569716" y="1831579"/>
            <a:ext cx="5198336" cy="3869872"/>
          </a:xfrm>
          <a:prstGeom prst="rect">
            <a:avLst/>
          </a:prstGeom>
        </p:spPr>
      </p:pic>
      <p:pic>
        <p:nvPicPr>
          <p:cNvPr id="8" name="Picture 7">
            <a:extLst>
              <a:ext uri="{FF2B5EF4-FFF2-40B4-BE49-F238E27FC236}">
                <a16:creationId xmlns:a16="http://schemas.microsoft.com/office/drawing/2014/main" id="{BD42907B-3D7C-F963-725A-97C4EFE1FAB5}"/>
              </a:ext>
            </a:extLst>
          </p:cNvPr>
          <p:cNvPicPr>
            <a:picLocks noChangeAspect="1"/>
          </p:cNvPicPr>
          <p:nvPr/>
        </p:nvPicPr>
        <p:blipFill>
          <a:blip r:embed="rId3"/>
          <a:stretch>
            <a:fillRect/>
          </a:stretch>
        </p:blipFill>
        <p:spPr>
          <a:xfrm>
            <a:off x="6539468" y="1831579"/>
            <a:ext cx="5082816" cy="386987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2691E9DB-43AC-048C-9A95-75BAFEF9AF1B}"/>
              </a:ext>
            </a:extLst>
          </p:cNvPr>
          <p:cNvPicPr>
            <a:picLocks noChangeAspect="1"/>
          </p:cNvPicPr>
          <p:nvPr/>
        </p:nvPicPr>
        <p:blipFill>
          <a:blip r:embed="rId2"/>
          <a:stretch>
            <a:fillRect/>
          </a:stretch>
        </p:blipFill>
        <p:spPr>
          <a:xfrm>
            <a:off x="176696" y="755650"/>
            <a:ext cx="5909129" cy="3924300"/>
          </a:xfrm>
          <a:prstGeom prst="rect">
            <a:avLst/>
          </a:prstGeom>
        </p:spPr>
      </p:pic>
      <p:pic>
        <p:nvPicPr>
          <p:cNvPr id="8" name="Picture 7">
            <a:extLst>
              <a:ext uri="{FF2B5EF4-FFF2-40B4-BE49-F238E27FC236}">
                <a16:creationId xmlns:a16="http://schemas.microsoft.com/office/drawing/2014/main" id="{BBCC92D2-E58F-21C8-D90A-17712174B837}"/>
              </a:ext>
            </a:extLst>
          </p:cNvPr>
          <p:cNvPicPr>
            <a:picLocks noChangeAspect="1"/>
          </p:cNvPicPr>
          <p:nvPr/>
        </p:nvPicPr>
        <p:blipFill>
          <a:blip r:embed="rId3"/>
          <a:stretch>
            <a:fillRect/>
          </a:stretch>
        </p:blipFill>
        <p:spPr>
          <a:xfrm>
            <a:off x="6219438" y="3077028"/>
            <a:ext cx="5972562" cy="378097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1407</Words>
  <Application>Microsoft Office PowerPoint</Application>
  <PresentationFormat>Widescreen</PresentationFormat>
  <Paragraphs>127</Paragraphs>
  <Slides>19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 Math</vt:lpstr>
      <vt:lpstr>Times New Roman</vt:lpstr>
      <vt:lpstr>Office Theme</vt:lpstr>
      <vt:lpstr>IBM University Engagement Project Submission </vt:lpstr>
      <vt:lpstr>PowerPoint Presentation</vt:lpstr>
      <vt:lpstr>PowerPoint Presentation</vt:lpstr>
      <vt:lpstr>PowerPoint Presentation</vt:lpstr>
      <vt:lpstr>The solution also includes a user-friendly dashboard that tracks mood history, stress levels, emotional trends, and self-care progress through interactive visualizations.  LangFlow is used to orchestrate the multi-agent workflow, IBM watsonx.ai manages model deployment and AI governance, while IBM Granite Models provide reasoning, summarization, empathy, and personalized responses.  Overall, this solution acts as an intelligent, proactive, and compassionate mental health  companion that promotes awareness, supports emotional well-being, detects risks early, and encourages users to seek  professional help whenever needed..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99</cp:revision>
  <dcterms:created xsi:type="dcterms:W3CDTF">2025-07-08T05:06:56Z</dcterms:created>
  <dcterms:modified xsi:type="dcterms:W3CDTF">2026-06-28T15:48:23Z</dcterms:modified>
</cp:coreProperties>
</file>